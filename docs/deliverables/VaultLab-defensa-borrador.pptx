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segundos. Aclarar alcance académico y datos ficticios.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 segundos. Diferenciar requisitos docentes y decisiones de implementación.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 segundos. Explicar por qué Tk no ejecuta PBKDF2 ni toca el servicio directamente.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90 segundos. RFC 8018, sección 5.2. El coste no aumenta la entropía de la maestra.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 segundos. NIST SP 800-38D. Sal y nonce son públicos; la clave es secreta.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 segundos. Crear una bóveda nueva con maestra ficticia durante la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90 segundos. Agregar dos cuentas, editar una, buscar, cerrar y reabrir para probar persistencia.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 segundos. Categorías permitidas; no se exige presencia de todas. Clave oculta por defecto.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 segundos. No convertir bits a un tiempo de ataque sin un modelo explícito.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90 segundos. Ejecutar el laboratorio real. C′[0] = C[0] XOR 1 sobre copia ficticia en memoria.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 segundos. Reemplazar el portapapeles por texto ajeno antes del plazo.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 segundos. Mostrar el informe real; no presentar automatización como auditoría externa.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 segundos. Autolock y backup manual siguen como mejoras P1.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15 segundos. Reservar tiempo para preguntas y confirmar duración con el docente.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3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3200">
                <a:solidFill>
                  <a:srgbClr val="6BD7C5"/>
                </a:solidFill>
                <a:latin typeface="Aptos"/>
              </a:defRPr>
            </a:pPr>
            <a:r>
              <a:t>VaultLab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600">
                <a:solidFill>
                  <a:srgbClr val="F0F4F8"/>
                </a:solidFill>
                <a:latin typeface="Aptos"/>
              </a:defRPr>
            </a:pPr>
            <a:r>
              <a:t>Administrador de credenciales y laboratorio matemático.</a:t>
            </a:r>
          </a:p>
          <a:p>
            <a:pPr>
              <a:spcAft>
                <a:spcPts val="2200"/>
              </a:spcAft>
              <a:defRPr sz="2600">
                <a:solidFill>
                  <a:srgbClr val="F0F4F8"/>
                </a:solidFill>
                <a:latin typeface="Aptos"/>
              </a:defRPr>
            </a:pPr>
            <a:r>
              <a:t>Matemática Aplicada · Borrador para defensa de 15 minutos.</a:t>
            </a:r>
          </a:p>
          <a:p>
            <a:pPr>
              <a:spcAft>
                <a:spcPts val="2200"/>
              </a:spcAft>
              <a:defRPr sz="2600">
                <a:solidFill>
                  <a:srgbClr val="F0F4F8"/>
                </a:solidFill>
                <a:latin typeface="Aptos"/>
              </a:defRPr>
            </a:pPr>
            <a:r>
              <a:t>Autoría e institución: completar por el equipo.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4008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1200">
                <a:solidFill>
                  <a:srgbClr val="F0F4F8"/>
                </a:solidFill>
                <a:latin typeface="Aptos"/>
              </a:defRPr>
            </a:pPr>
            <a:r>
              <a:t>VaultLab · Académico ·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3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3200">
                <a:solidFill>
                  <a:srgbClr val="6BD7C5"/>
                </a:solidFill>
                <a:latin typeface="Aptos"/>
              </a:defRPr>
            </a:pPr>
            <a:r>
              <a:t>Problema y alcance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600">
                <a:solidFill>
                  <a:srgbClr val="F0F4F8"/>
                </a:solidFill>
                <a:latin typeface="Aptos"/>
              </a:defRPr>
            </a:pPr>
            <a:r>
              <a:t>Conservar credenciales entre sesiones sin escribirlas en claro.</a:t>
            </a:r>
          </a:p>
          <a:p>
            <a:pPr>
              <a:spcAft>
                <a:spcPts val="2200"/>
              </a:spcAft>
              <a:defRPr sz="2600">
                <a:solidFill>
                  <a:srgbClr val="F0F4F8"/>
                </a:solidFill>
                <a:latin typeface="Aptos"/>
              </a:defRPr>
            </a:pPr>
            <a:r>
              <a:t>Una bóveda local, un usuario, un proceso; funcionamiento offline.</a:t>
            </a:r>
          </a:p>
          <a:p>
            <a:pPr>
              <a:spcAft>
                <a:spcPts val="2200"/>
              </a:spcAft>
              <a:defRPr sz="2600">
                <a:solidFill>
                  <a:srgbClr val="F0F4F8"/>
                </a:solidFill>
                <a:latin typeface="Aptos"/>
              </a:defRPr>
            </a:pPr>
            <a:r>
              <a:t>La GUI también debe explicar operaciones matemáticas verificables.</a:t>
            </a:r>
          </a:p>
          <a:p>
            <a:pPr>
              <a:spcAft>
                <a:spcPts val="2200"/>
              </a:spcAft>
              <a:defRPr sz="2600">
                <a:solidFill>
                  <a:srgbClr val="F0F4F8"/>
                </a:solidFill>
                <a:latin typeface="Aptos"/>
              </a:defRPr>
            </a:pPr>
            <a:r>
              <a:t>No protege un equipo infectado ni recupera una maestra perdida.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4008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1200">
                <a:solidFill>
                  <a:srgbClr val="F0F4F8"/>
                </a:solidFill>
                <a:latin typeface="Aptos"/>
              </a:defRPr>
            </a:pPr>
            <a:r>
              <a:t>VaultLab · Académico ·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3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3200">
                <a:solidFill>
                  <a:srgbClr val="6BD7C5"/>
                </a:solidFill>
                <a:latin typeface="Aptos"/>
              </a:defRPr>
            </a:pPr>
            <a:r>
              <a:t>Arquitectura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600">
                <a:solidFill>
                  <a:srgbClr val="F0F4F8"/>
                </a:solidFill>
                <a:latin typeface="Aptos"/>
              </a:defRPr>
            </a:pPr>
            <a:r>
              <a:t>Interfaz → worker serial → servicios → dominio, criptografía y repositorio.</a:t>
            </a:r>
          </a:p>
          <a:p>
            <a:pPr>
              <a:spcAft>
                <a:spcPts val="2200"/>
              </a:spcAft>
              <a:defRPr sz="2600">
                <a:solidFill>
                  <a:srgbClr val="F0F4F8"/>
                </a:solidFill>
                <a:latin typeface="Aptos"/>
              </a:defRPr>
            </a:pPr>
            <a:r>
              <a:t>Los modelos son inmutables y el repositorio solo recibe sobres cifrados.</a:t>
            </a:r>
          </a:p>
          <a:p>
            <a:pPr>
              <a:spcAft>
                <a:spcPts val="2200"/>
              </a:spcAft>
              <a:defRPr sz="2600">
                <a:solidFill>
                  <a:srgbClr val="F0F4F8"/>
                </a:solidFill>
                <a:latin typeface="Aptos"/>
              </a:defRPr>
            </a:pPr>
            <a:r>
              <a:t>El estado editado se publica después de confirmar persistencia.</a:t>
            </a:r>
          </a:p>
          <a:p>
            <a:pPr>
              <a:spcAft>
                <a:spcPts val="2200"/>
              </a:spcAft>
              <a:defRPr sz="2600">
                <a:solidFill>
                  <a:srgbClr val="F0F4F8"/>
                </a:solidFill>
                <a:latin typeface="Aptos"/>
              </a:defRPr>
            </a:pPr>
            <a:r>
              <a:t>Bloquear descarta resultados tardíos y limpia las referencias de la interfaz.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4008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1200">
                <a:solidFill>
                  <a:srgbClr val="F0F4F8"/>
                </a:solidFill>
                <a:latin typeface="Aptos"/>
              </a:defRPr>
            </a:pPr>
            <a:r>
              <a:t>VaultLab · Académico ·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3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3200">
                <a:solidFill>
                  <a:srgbClr val="6BD7C5"/>
                </a:solidFill>
                <a:latin typeface="Aptos"/>
              </a:defRPr>
            </a:pPr>
            <a:r>
              <a:t>PBKDF2-HMAC-SHA256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600">
                <a:solidFill>
                  <a:srgbClr val="F0F4F8"/>
                </a:solidFill>
                <a:latin typeface="Aptos"/>
              </a:defRPr>
            </a:pPr>
            <a:r>
              <a:t>U₁ = PRF(P, S || INT₃₂_BE(1)); Uⱼ = PRF(P, Uⱼ₋₁).</a:t>
            </a:r>
          </a:p>
          <a:p>
            <a:pPr>
              <a:spcAft>
                <a:spcPts val="2200"/>
              </a:spcAft>
              <a:defRPr sz="2600">
                <a:solidFill>
                  <a:srgbClr val="F0F4F8"/>
                </a:solidFill>
                <a:latin typeface="Aptos"/>
              </a:defRPr>
            </a:pPr>
            <a:r>
              <a:t>T₁ = U₁ XOR … XOR U꜀; DK = T₁ para dkLen = 32 bytes.</a:t>
            </a:r>
          </a:p>
          <a:p>
            <a:pPr>
              <a:spcAft>
                <a:spcPts val="2200"/>
              </a:spcAft>
              <a:defRPr sz="2600">
                <a:solidFill>
                  <a:srgbClr val="F0F4F8"/>
                </a:solidFill>
                <a:latin typeface="Aptos"/>
              </a:defRPr>
            </a:pPr>
            <a:r>
              <a:t>Sal aleatoria de 16 bytes; coste inicial 2.400.000 iteraciones.</a:t>
            </a:r>
          </a:p>
          <a:p>
            <a:pPr>
              <a:spcAft>
                <a:spcPts val="2200"/>
              </a:spcAft>
              <a:defRPr sz="2600">
                <a:solidFill>
                  <a:srgbClr val="F0F4F8"/>
                </a:solidFill>
                <a:latin typeface="Aptos"/>
              </a:defRPr>
            </a:pPr>
            <a:r>
              <a:t>La traza reducida c=2 del laboratorio se contrasta con hashlib.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4008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1200">
                <a:solidFill>
                  <a:srgbClr val="F0F4F8"/>
                </a:solidFill>
                <a:latin typeface="Aptos"/>
              </a:defRPr>
            </a:pPr>
            <a:r>
              <a:t>VaultLab · Académico ·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3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3200">
                <a:solidFill>
                  <a:srgbClr val="6BD7C5"/>
                </a:solidFill>
                <a:latin typeface="Aptos"/>
              </a:defRPr>
            </a:pPr>
            <a:r>
              <a:t>AES-256-GCM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600">
                <a:solidFill>
                  <a:srgbClr val="F0F4F8"/>
                </a:solidFill>
                <a:latin typeface="Aptos"/>
              </a:defRPr>
            </a:pPr>
            <a:r>
              <a:t>CTR: Pᵢ XOR AES_K(contadorᵢ) = Cᵢ.</a:t>
            </a:r>
          </a:p>
          <a:p>
            <a:pPr>
              <a:spcAft>
                <a:spcPts val="2200"/>
              </a:spcAft>
              <a:defRPr sz="2600">
                <a:solidFill>
                  <a:srgbClr val="F0F4F8"/>
                </a:solidFill>
                <a:latin typeface="Aptos"/>
              </a:defRPr>
            </a:pPr>
            <a:r>
              <a:t>GHASH autentica AAD y ciphertext en GF(2¹²⁸).</a:t>
            </a:r>
          </a:p>
          <a:p>
            <a:pPr>
              <a:spcAft>
                <a:spcPts val="2200"/>
              </a:spcAft>
              <a:defRPr sz="2600">
                <a:solidFill>
                  <a:srgbClr val="F0F4F8"/>
                </a:solidFill>
                <a:latin typeface="Aptos"/>
              </a:defRPr>
            </a:pPr>
            <a:r>
              <a:t>Nonce nuevo de 96 bits por escritura; tag de 128 bits.</a:t>
            </a:r>
          </a:p>
          <a:p>
            <a:pPr>
              <a:spcAft>
                <a:spcPts val="2200"/>
              </a:spcAft>
              <a:defRPr sz="2600">
                <a:solidFill>
                  <a:srgbClr val="F0F4F8"/>
                </a:solidFill>
                <a:latin typeface="Aptos"/>
              </a:defRPr>
            </a:pPr>
            <a:r>
              <a:t>Cabecera canónica autenticada; se devuelve texto solo tras verificar.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4008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1200">
                <a:solidFill>
                  <a:srgbClr val="F0F4F8"/>
                </a:solidFill>
                <a:latin typeface="Aptos"/>
              </a:defRPr>
            </a:pPr>
            <a:r>
              <a:t>VaultLab · Académico ·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3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3200">
                <a:solidFill>
                  <a:srgbClr val="6BD7C5"/>
                </a:solidFill>
                <a:latin typeface="Aptos"/>
              </a:defRPr>
            </a:pPr>
            <a:r>
              <a:t>Acceso local</a:t>
            </a:r>
          </a:p>
        </p:txBody>
      </p:sp>
      <p:pic>
        <p:nvPicPr>
          <p:cNvPr id="3" name="Picture 2" descr="01-acces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9253" y="1051560"/>
            <a:ext cx="6273188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72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1400">
                <a:solidFill>
                  <a:srgbClr val="F0F4F8"/>
                </a:solidFill>
                <a:latin typeface="Aptos"/>
              </a:defRPr>
            </a:pPr>
            <a:r>
              <a:t>Acceso: campos ocultos, confirmación e irreversibilidad.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64008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1200">
                <a:solidFill>
                  <a:srgbClr val="F0F4F8"/>
                </a:solidFill>
                <a:latin typeface="Aptos"/>
              </a:defRPr>
            </a:pPr>
            <a:r>
              <a:t>VaultLab · Académico ·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3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3200">
                <a:solidFill>
                  <a:srgbClr val="6BD7C5"/>
                </a:solidFill>
                <a:latin typeface="Aptos"/>
              </a:defRPr>
            </a:pPr>
            <a:r>
              <a:t>Gestión y búsqueda</a:t>
            </a:r>
          </a:p>
        </p:txBody>
      </p:sp>
      <p:pic>
        <p:nvPicPr>
          <p:cNvPr id="3" name="Picture 2" descr="02-bove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9253" y="1051560"/>
            <a:ext cx="6273188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72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1400">
                <a:solidFill>
                  <a:srgbClr val="F0F4F8"/>
                </a:solidFill>
                <a:latin typeface="Aptos"/>
              </a:defRPr>
            </a:pPr>
            <a:r>
              <a:t>Tabla sin contraseñas y acciones explícitas.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64008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1200">
                <a:solidFill>
                  <a:srgbClr val="F0F4F8"/>
                </a:solidFill>
                <a:latin typeface="Aptos"/>
              </a:defRPr>
            </a:pPr>
            <a:r>
              <a:t>VaultLab · Académico ·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3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3200">
                <a:solidFill>
                  <a:srgbClr val="6BD7C5"/>
                </a:solidFill>
                <a:latin typeface="Aptos"/>
              </a:defRPr>
            </a:pPr>
            <a:r>
              <a:t>Generador y fortaleza</a:t>
            </a:r>
          </a:p>
        </p:txBody>
      </p:sp>
      <p:pic>
        <p:nvPicPr>
          <p:cNvPr id="3" name="Picture 2" descr="03-generad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4218" y="1051560"/>
            <a:ext cx="4543258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72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1400">
                <a:solidFill>
                  <a:srgbClr val="F0F4F8"/>
                </a:solidFill>
                <a:latin typeface="Aptos"/>
              </a:defRPr>
            </a:pPr>
            <a:r>
              <a:t>Generación y medidor heurístico con etiquetas distintas.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64008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1200">
                <a:solidFill>
                  <a:srgbClr val="F0F4F8"/>
                </a:solidFill>
                <a:latin typeface="Aptos"/>
              </a:defRPr>
            </a:pPr>
            <a:r>
              <a:t>VaultLab · Académico ·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3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3200">
                <a:solidFill>
                  <a:srgbClr val="6BD7C5"/>
                </a:solidFill>
                <a:latin typeface="Aptos"/>
              </a:defRPr>
            </a:pPr>
            <a:r>
              <a:t>Entropía ideal ≠ fortaleza humana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600">
                <a:solidFill>
                  <a:srgbClr val="F0F4F8"/>
                </a:solidFill>
                <a:latin typeface="Aptos"/>
              </a:defRPr>
            </a:pPr>
            <a:r>
              <a:t>N = |A|ᴸ; H = log₂ N = L log₂ |A|.</a:t>
            </a:r>
          </a:p>
          <a:p>
            <a:pPr>
              <a:spcAft>
                <a:spcPts val="2200"/>
              </a:spcAft>
              <a:defRPr sz="2600">
                <a:solidFill>
                  <a:srgbClr val="F0F4F8"/>
                </a:solidFill>
                <a:latin typeface="Aptos"/>
              </a:defRPr>
            </a:pPr>
            <a:r>
              <a:t>Por defecto: L = 20, |A| = 90, H ≈ 129,84 bits.</a:t>
            </a:r>
          </a:p>
          <a:p>
            <a:pPr>
              <a:spcAft>
                <a:spcPts val="2200"/>
              </a:spcAft>
              <a:defRPr sz="2600">
                <a:solidFill>
                  <a:srgbClr val="F0F4F8"/>
                </a:solidFill>
                <a:latin typeface="Aptos"/>
              </a:defRPr>
            </a:pPr>
            <a:r>
              <a:t>Supuestos: elecciones independientes y uniformes con secrets.choice.</a:t>
            </a:r>
          </a:p>
          <a:p>
            <a:pPr>
              <a:spcAft>
                <a:spcPts val="2200"/>
              </a:spcAft>
              <a:defRPr sz="2600">
                <a:solidFill>
                  <a:srgbClr val="F0F4F8"/>
                </a:solidFill>
                <a:latin typeface="Aptos"/>
              </a:defRPr>
            </a:pPr>
            <a:r>
              <a:t>La heurística usa longitud y patrones; no estima entropía de entradas humanas.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4008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1200">
                <a:solidFill>
                  <a:srgbClr val="F0F4F8"/>
                </a:solidFill>
                <a:latin typeface="Aptos"/>
              </a:defRPr>
            </a:pPr>
            <a:r>
              <a:t>VaultLab · Académico ·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3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3200">
                <a:solidFill>
                  <a:srgbClr val="6BD7C5"/>
                </a:solidFill>
                <a:latin typeface="Aptos"/>
              </a:defRPr>
            </a:pPr>
            <a:r>
              <a:t>Laboratorio e integridad</a:t>
            </a:r>
          </a:p>
        </p:txBody>
      </p:sp>
      <p:pic>
        <p:nvPicPr>
          <p:cNvPr id="3" name="Picture 2" descr="04-laborato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9253" y="1051560"/>
            <a:ext cx="6273188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72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1400">
                <a:solidFill>
                  <a:srgbClr val="F0F4F8"/>
                </a:solidFill>
                <a:latin typeface="Aptos"/>
              </a:defRPr>
            </a:pPr>
            <a:r>
              <a:t>Dashboard: PBKDF2, GCM, entropía y alteración rechazada.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64008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1200">
                <a:solidFill>
                  <a:srgbClr val="F0F4F8"/>
                </a:solidFill>
                <a:latin typeface="Aptos"/>
              </a:defRPr>
            </a:pPr>
            <a:r>
              <a:t>VaultLab · Académico ·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3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3200">
                <a:solidFill>
                  <a:srgbClr val="6BD7C5"/>
                </a:solidFill>
                <a:latin typeface="Aptos"/>
              </a:defRPr>
            </a:pPr>
            <a:r>
              <a:t>Copiado y estados de error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600">
                <a:solidFill>
                  <a:srgbClr val="F0F4F8"/>
                </a:solidFill>
                <a:latin typeface="Aptos"/>
              </a:defRPr>
            </a:pPr>
            <a:r>
              <a:t>Copiado explícito y limpieza tras 20, 25, 30 o 60 segundos si el valor coincide.</a:t>
            </a:r>
          </a:p>
          <a:p>
            <a:pPr>
              <a:spcAft>
                <a:spcPts val="2200"/>
              </a:spcAft>
              <a:defRPr sz="2600">
                <a:solidFill>
                  <a:srgbClr val="F0F4F8"/>
                </a:solidFill>
                <a:latin typeface="Aptos"/>
              </a:defRPr>
            </a:pPr>
            <a:r>
              <a:t>Bloqueo y cierre también intentan limpiar lo que aún pertenece a la app.</a:t>
            </a:r>
          </a:p>
          <a:p>
            <a:pPr>
              <a:spcAft>
                <a:spcPts val="2200"/>
              </a:spcAft>
              <a:defRPr sz="2600">
                <a:solidFill>
                  <a:srgbClr val="F0F4F8"/>
                </a:solidFill>
                <a:latin typeface="Aptos"/>
              </a:defRPr>
            </a:pPr>
            <a:r>
              <a:t>El historial del SO puede conservar copias; no se promete borrado garantizado.</a:t>
            </a:r>
          </a:p>
          <a:p>
            <a:pPr>
              <a:spcAft>
                <a:spcPts val="2200"/>
              </a:spcAft>
              <a:defRPr sz="2600">
                <a:solidFill>
                  <a:srgbClr val="F0F4F8"/>
                </a:solidFill>
                <a:latin typeface="Aptos"/>
              </a:defRPr>
            </a:pPr>
            <a:r>
              <a:t>Maestra incorrecta y alteración comparten error de apertura genérico.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4008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1200">
                <a:solidFill>
                  <a:srgbClr val="F0F4F8"/>
                </a:solidFill>
                <a:latin typeface="Aptos"/>
              </a:defRPr>
            </a:pPr>
            <a:r>
              <a:t>VaultLab · Académico ·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3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3200">
                <a:solidFill>
                  <a:srgbClr val="6BD7C5"/>
                </a:solidFill>
                <a:latin typeface="Aptos"/>
              </a:defRPr>
            </a:pPr>
            <a:r>
              <a:t>Evaluación reproducible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600">
                <a:solidFill>
                  <a:srgbClr val="F0F4F8"/>
                </a:solidFill>
                <a:latin typeface="Aptos"/>
              </a:defRPr>
            </a:pPr>
            <a:r>
              <a:t>La suite verifica crypto, formato adverso, persistencia, CRUD y GUI real.</a:t>
            </a:r>
          </a:p>
          <a:p>
            <a:pPr>
              <a:spcAft>
                <a:spcPts val="2200"/>
              </a:spcAft>
              <a:defRPr sz="2600">
                <a:solidFill>
                  <a:srgbClr val="F0F4F8"/>
                </a:solidFill>
                <a:latin typeface="Aptos"/>
              </a:defRPr>
            </a:pPr>
            <a:r>
              <a:t>Rediseño: 284 aprobadas, sin omisiones ni advertencias; 91,24 segundos.</a:t>
            </a:r>
          </a:p>
          <a:p>
            <a:pPr>
              <a:spcAft>
                <a:spcPts val="2200"/>
              </a:spcAft>
              <a:defRPr sz="2600">
                <a:solidFill>
                  <a:srgbClr val="F0F4F8"/>
                </a:solidFill>
                <a:latin typeface="Aptos"/>
              </a:defRPr>
            </a:pPr>
            <a:r>
              <a:t>Se inyectan fallos de escritura y conflictos para comprobar conservación del archivo.</a:t>
            </a:r>
          </a:p>
          <a:p>
            <a:pPr>
              <a:spcAft>
                <a:spcPts val="2200"/>
              </a:spcAft>
              <a:defRPr sz="2600">
                <a:solidFill>
                  <a:srgbClr val="F0F4F8"/>
                </a:solidFill>
                <a:latin typeface="Aptos"/>
              </a:defRPr>
            </a:pPr>
            <a:r>
              <a:t>Evidencia y recuento definitivo: FINAL_REPORT.md y evidence/pytest.xml.</a:t>
            </a:r>
          </a:p>
          <a:p>
            <a:pPr>
              <a:spcAft>
                <a:spcPts val="2200"/>
              </a:spcAft>
              <a:defRPr sz="2600">
                <a:solidFill>
                  <a:srgbClr val="F0F4F8"/>
                </a:solidFill>
                <a:latin typeface="Aptos"/>
              </a:defRPr>
            </a:pPr>
            <a:r>
              <a:t>El kit offline se instala sin índice; requiere Python con Tk compatible.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4008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1200">
                <a:solidFill>
                  <a:srgbClr val="F0F4F8"/>
                </a:solidFill>
                <a:latin typeface="Aptos"/>
              </a:defRPr>
            </a:pPr>
            <a:r>
              <a:t>VaultLab · Académico ·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3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3200">
                <a:solidFill>
                  <a:srgbClr val="6BD7C5"/>
                </a:solidFill>
                <a:latin typeface="Aptos"/>
              </a:defRPr>
            </a:pPr>
            <a:r>
              <a:t>Conclusiones y límites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600">
                <a:solidFill>
                  <a:srgbClr val="F0F4F8"/>
                </a:solidFill>
                <a:latin typeface="Aptos"/>
              </a:defRPr>
            </a:pPr>
            <a:r>
              <a:t>Gestión persistente, generación y operaciones matemáticas integradas en una app local.</a:t>
            </a:r>
          </a:p>
          <a:p>
            <a:pPr>
              <a:spcAft>
                <a:spcPts val="2200"/>
              </a:spcAft>
              <a:defRPr sz="2600">
                <a:solidFill>
                  <a:srgbClr val="F0F4F8"/>
                </a:solidFill>
                <a:latin typeface="Aptos"/>
              </a:defRPr>
            </a:pPr>
            <a:r>
              <a:t>Sin protección contra malware, rollback o escrituras concurrentes entre procesos.</a:t>
            </a:r>
          </a:p>
          <a:p>
            <a:pPr>
              <a:spcAft>
                <a:spcPts val="2200"/>
              </a:spcAft>
              <a:defRPr sz="2600">
                <a:solidFill>
                  <a:srgbClr val="F0F4F8"/>
                </a:solidFill>
                <a:latin typeface="Aptos"/>
              </a:defRPr>
            </a:pPr>
            <a:r>
              <a:t>Memoria y portapapeles: limpieza de referencias y esfuerzo limitado.</a:t>
            </a:r>
          </a:p>
          <a:p>
            <a:pPr>
              <a:spcAft>
                <a:spcPts val="2200"/>
              </a:spcAft>
              <a:defRPr sz="2600">
                <a:solidFill>
                  <a:srgbClr val="F0F4F8"/>
                </a:solidFill>
                <a:latin typeface="Aptos"/>
              </a:defRPr>
            </a:pPr>
            <a:r>
              <a:t>Pendientes editoriales: autoría, plantilla original y ensayo humano en el equipo de defensa.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4008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1200">
                <a:solidFill>
                  <a:srgbClr val="F0F4F8"/>
                </a:solidFill>
                <a:latin typeface="Aptos"/>
              </a:defRPr>
            </a:pPr>
            <a:r>
              <a:t>VaultLab · Académico ·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3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3200">
                <a:solidFill>
                  <a:srgbClr val="6BD7C5"/>
                </a:solidFill>
                <a:latin typeface="Aptos"/>
              </a:defRPr>
            </a:pPr>
            <a:r>
              <a:t>Referencias y preguntas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600">
                <a:solidFill>
                  <a:srgbClr val="F0F4F8"/>
                </a:solidFill>
                <a:latin typeface="Aptos"/>
              </a:defRPr>
            </a:pPr>
            <a:r>
              <a:t>RFC 8018, sección 5.2: PBKDF2.</a:t>
            </a:r>
          </a:p>
          <a:p>
            <a:pPr>
              <a:spcAft>
                <a:spcPts val="2200"/>
              </a:spcAft>
              <a:defRPr sz="2600">
                <a:solidFill>
                  <a:srgbClr val="F0F4F8"/>
                </a:solidFill>
                <a:latin typeface="Aptos"/>
              </a:defRPr>
            </a:pPr>
            <a:r>
              <a:t>NIST SP 800-38D: GCM y GHASH.</a:t>
            </a:r>
          </a:p>
          <a:p>
            <a:pPr>
              <a:spcAft>
                <a:spcPts val="2200"/>
              </a:spcAft>
              <a:defRPr sz="2600">
                <a:solidFill>
                  <a:srgbClr val="F0F4F8"/>
                </a:solidFill>
                <a:latin typeface="Aptos"/>
              </a:defRPr>
            </a:pPr>
            <a:r>
              <a:t>Documentación oficial de Python: secrets.</a:t>
            </a:r>
          </a:p>
          <a:p>
            <a:pPr>
              <a:spcAft>
                <a:spcPts val="2200"/>
              </a:spcAft>
              <a:defRPr sz="2600">
                <a:solidFill>
                  <a:srgbClr val="F0F4F8"/>
                </a:solidFill>
                <a:latin typeface="Aptos"/>
              </a:defRPr>
            </a:pPr>
            <a:r>
              <a:t>Bibliografía completa y enlaces verificados en PAPER_DRAFT.md.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4008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1200">
                <a:solidFill>
                  <a:srgbClr val="F0F4F8"/>
                </a:solidFill>
                <a:latin typeface="Aptos"/>
              </a:defRPr>
            </a:pPr>
            <a:r>
              <a:t>VaultLab · Académico ·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